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937760" y="3520440"/>
            <a:ext cx="22860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Worked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Automobile Dataset (autos-k-means.csv)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Dataset &amp; New Car to Classify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(7 cars, 2 features)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822960"/>
                <a:gridCol w="128016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(K$)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Jaguar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097280"/>
            <a:ext cx="5029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097280"/>
            <a:ext cx="73152" cy="2377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 to Classify</a:t>
            </a:r>
            <a:endParaRPr lang="en-US" sz="1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45920"/>
          <a:ext cx="4663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(K$)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675120" y="370332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75120" y="3703320"/>
            <a:ext cx="73152" cy="13716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Formula: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d(p, q) = √[ (p₁ − q₁)² + (p₂ − q₂)² ]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k = 3 for this worked example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E3EFF7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5532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which class the new car (HP=100, Price=13.5K$) belongs to using the k-NN algorithm.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Compute Distance: Car E1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E1 — Chevrolet (Economy class)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= 70    |    Price = 6.30 K$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d(E1) = √[ (100 − 70)² + (13.50 − 6.30)²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√[ (30.0)² + (7.20)²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√[ 900.00 + 51.84 ]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√951.84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30.85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so far: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Compute Distance: Car M1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M1 — Honda (Mid-range class)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= 101    |    Price = 12.95 K$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d(M1) = √[ (100 − 101)² + (13.50 − 12.95)²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√[ (−1.00)² + (0.55)²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√[ 1.00 + 0.30 ]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√1.30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1.14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so far: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532120"/>
            <a:ext cx="5486400" cy="91440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577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M1 is much closer (1.14) than E1 (30.85). Same HP and similar price as the new car.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All Distances Computed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40080" cy="3474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d(E1) = √(30.0² + 7.20²) = √951.84 = 30.85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90472"/>
            <a:ext cx="640080" cy="3474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904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d(E2) = √(32.0² + 7.12²) = √1074.69 = 32.78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640080" cy="3474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836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d(E3) = √(38.0² + 8.15²) = √1510.42 = 38.86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64008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768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2768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d(M1) = √(1.0² + 0.55²) = √1.30 = 1.14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64008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700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d(M2) = √(10.0² + 1.75²) = √103.06 = 10.15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640080" cy="347472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63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063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d(L1) = √(82.0² + 17.26²) = √7021.91 = 83.80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640080" cy="347472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56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4564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d(L2) = √(76.0² + 18.75²) = √6127.56 = 78.28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Distance Table: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2860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Sort Distances in Ascending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from smallest (nearest) to largest (farthest):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Sorting: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2860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4A261"/>
                </a:solidFill>
              </a:rPr>
              <a:t>→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Sorting (k = 3 highlighted):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737360"/>
                <a:gridCol w="1828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Choose k and Vote on Class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3: Select the 3 nearest neighbours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2860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Tally: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0" y="4251960"/>
            <a:ext cx="3657600" cy="228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9" name="Shape 6"/>
          <p:cNvSpPr/>
          <p:nvPr/>
        </p:nvSpPr>
        <p:spPr>
          <a:xfrm>
            <a:off x="2011680" y="4251960"/>
            <a:ext cx="243840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vote(s)   67%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0" y="4800600"/>
            <a:ext cx="3657600" cy="228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4800600"/>
            <a:ext cx="1219200" cy="2286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4754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vote(s)   33%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5303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0" y="5349240"/>
            <a:ext cx="3657600" cy="228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5303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vote(s)   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75320" y="1828800"/>
            <a:ext cx="2926080" cy="2926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7"/>
          <p:cNvSpPr/>
          <p:nvPr/>
        </p:nvSpPr>
        <p:spPr>
          <a:xfrm>
            <a:off x="827532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772400" y="49377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car (HP=100, Price=13.5K$)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classified as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Classification Probability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KNN Probability Formula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Pr(Y = j | X = x₀) = (1/k) · Σᵢ∈N₀ I(yᵢ = j)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N₀ is the set of k nearest observations and I(yᵢ = j) is 1 if car i belongs to class j, 0 otherwise.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our example (k = 3):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37560"/>
            <a:ext cx="73152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Pr(Y = Mid-range | X = (100, 13.5)) = 2/3 = 0.667 (66.7%)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73152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Pr(Y = Economy   | X = (100, 13.5)) = 1/3 = 0.333 (33.3%)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17720"/>
            <a:ext cx="7315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Pr(Y = Luxury    | X = (100, 13.5)) = 0/3 = 0.000  (0.0%)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New car classified as Mid-range (highest probability: 66.7%)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937760" y="3520440"/>
            <a:ext cx="22860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Worked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Automobile Dataset (autos-k-means.csv)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Dataset Setup (7 Cars, 3 Clusters)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Cluster 7 cars (HP, Price K$) from our autos dataset into k = 3 groups using Euclidean distance.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6459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(K$)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Centroids (one per natural tier)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75120" y="2148840"/>
            <a:ext cx="5029200" cy="777240"/>
          </a:xfrm>
          <a:prstGeom prst="rect">
            <a:avLst/>
          </a:prstGeom>
          <a:solidFill>
            <a:srgbClr val="E3EFF7"/>
          </a:solidFill>
          <a:ln/>
        </p:spPr>
      </p:sp>
      <p:sp>
        <p:nvSpPr>
          <p:cNvPr id="8" name="Shape 5"/>
          <p:cNvSpPr/>
          <p:nvPr/>
        </p:nvSpPr>
        <p:spPr>
          <a:xfrm>
            <a:off x="6675120" y="2148840"/>
            <a:ext cx="73152" cy="7772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(Economy)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98280" y="22128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→ (70, 6.30)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5120" y="3063240"/>
            <a:ext cx="5029200" cy="77724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0" y="3063240"/>
            <a:ext cx="73152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(Mid-range)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98280" y="3127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→ (101, 12.95)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3977640"/>
            <a:ext cx="5029200" cy="777240"/>
          </a:xfrm>
          <a:prstGeom prst="rect">
            <a:avLst/>
          </a:prstGeom>
          <a:solidFill>
            <a:srgbClr val="F4D4D6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3977640"/>
            <a:ext cx="73152" cy="77724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(Luxury)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9828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→ (182, 30.76)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E3EFF7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5778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formula:  </a:t>
            </a:r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d(p, q) = √[ (HP_p − HP_q)² + (Price_p − Price_q)² 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Iteration 1: Compute Distances &amp; Assign Clusters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21945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E1 (70, 6.30)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d(E1, C1) = √[(70−70)² + (6.30−6.30)²]   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d(E1, C2) = √[(70−101)² + (6.30−12.95)²]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31.71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d(E1, C3) = √[(70−182)² + (6.30−30.76)²]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114.64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29000"/>
            <a:ext cx="73152" cy="2194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M1 (101, 12.95)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d(M1, C1) = √[(101−70)² + (12.95−6.30)²]   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31.71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d(M1, C2) = √[(101−101)² + (12.95−12.95)²]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d(M1, C3) = √[(101−182)² + (12.95−30.76)²] =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82.93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12648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car to the nearest centroid (smallest distance highlighted).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4754880"/>
            <a:ext cx="187452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4754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C1: {E1, E2, E3}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754880"/>
            <a:ext cx="18745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4754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C2: {M1, M2}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960" y="4754880"/>
            <a:ext cx="1874520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19" name="Text 16"/>
          <p:cNvSpPr/>
          <p:nvPr/>
        </p:nvSpPr>
        <p:spPr>
          <a:xfrm>
            <a:off x="9966960" y="4754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C3: {L1, L2}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Compute New Centroids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Iteration 1 assignments:    C1 = {E1, E2, E3}    C2 = {M1, M2}    C3 = {L1, L2}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498080" cy="1554480"/>
          </a:xfrm>
          <a:prstGeom prst="rect">
            <a:avLst/>
          </a:prstGeom>
          <a:solidFill>
            <a:srgbClr val="E3EF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27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(Economy cluster)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E1(70, 6.30), E2(68, 6.38), E3(62, 5.35)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6771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mean    = (70 + 68 + 62) / 3 = 200 / 3 = 66.67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mean = (6.30 + 6.38 + 5.35) / 3 = 18.03 / 3 = 6.01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611880" cy="12801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783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centroid: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(66.67, 6.01)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7498080" cy="155448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72968"/>
            <a:ext cx="73152" cy="1554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(Mid-range cluster)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M1(101, 12.95), M2(110, 15.25)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mean    = (101 + 110) / 2 = 211 / 2 = 105.50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mean = (12.95 + 15.25) / 2 = 28.20 / 2 = 14.10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3310128"/>
            <a:ext cx="3611880" cy="1280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401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centroid: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372160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(105.50, 14.10)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" y="4791456"/>
            <a:ext cx="7498080" cy="1554480"/>
          </a:xfrm>
          <a:prstGeom prst="rect">
            <a:avLst/>
          </a:prstGeom>
          <a:solidFill>
            <a:srgbClr val="F4D4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791456"/>
            <a:ext cx="73152" cy="155448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64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(Luxury cluster)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2029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L1(182, 30.76), L2(176, 32.25)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5046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mean    = (182 + 176) / 2 = 358 / 2 = 179.00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mean = (30.76 + 32.25) / 2 = 63.01 / 2 = 31.51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4928616"/>
            <a:ext cx="3611880" cy="128016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50200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centroid: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534009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(179.00, 31.51)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Iteration 2: Recompute with New Centroids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centroids:  </a:t>
            </a:r>
            <a:pPr indent="0" marL="0">
              <a:buNone/>
            </a:pPr>
            <a:r>
              <a:rPr lang="en-US" sz="1300" b="1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(66.67, 6.01)    C2 = (105.50, 14.10)    C3 = (179.00, 31.51)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737360"/>
                <a:gridCol w="173736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d(C3)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cluster assignments changed!  The algorithm has CONVERGED in 2 iterations.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Final Clusters (Convergence Reached)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914400"/>
                <a:gridCol w="1097280"/>
                <a:gridCol w="10972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Chevrolet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Jaguar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4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Centroids ★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80960" y="1554480"/>
            <a:ext cx="4114800" cy="9601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(Economy)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(66.67, 6.01)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80960" y="2633472"/>
            <a:ext cx="4114800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2724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(Mid-range)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(105.50, 14.10)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80960" y="3712464"/>
            <a:ext cx="4114800" cy="9601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3803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(Luxury)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(179.00, 31.51)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Clusters perfectly match the true price-tier segments (Economy / Mid-range / Luxury)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Within-Cluster Sum of Squares (WCSS)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Formula: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WCSS = Σ_clusters Σ_points  d(point, centroid)²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compactness of all clusters. Lower WCSS = tighter, better clusters.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703320" cy="3017520"/>
          </a:xfrm>
          <a:prstGeom prst="rect">
            <a:avLst/>
          </a:prstGeom>
          <a:solidFill>
            <a:srgbClr val="E3EF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06040"/>
            <a:ext cx="370332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(Economy)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E1: 3.35² = 11.22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E2: 1.38² =  1.90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E3: 4.71² = 22.18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3154680" cy="0"/>
          </a:xfrm>
          <a:prstGeom prst="line">
            <a:avLst/>
          </a:prstGeom>
          <a:noFill/>
          <a:ln w="19050">
            <a:solidFill>
              <a:srgbClr val="1B49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29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9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35.31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79392" y="2606040"/>
            <a:ext cx="3703320" cy="3017520"/>
          </a:xfrm>
          <a:prstGeom prst="rect">
            <a:avLst/>
          </a:prstGeom>
          <a:solidFill>
            <a:srgbClr val="FDE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9392" y="2606040"/>
            <a:ext cx="37033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(Mid-range)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3712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M1: 4.64² = 21.53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M2: 4.64² = 21.53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53712" y="4937760"/>
            <a:ext cx="31546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5029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43.07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01584" y="2606040"/>
            <a:ext cx="3703320" cy="3017520"/>
          </a:xfrm>
          <a:prstGeom prst="rect">
            <a:avLst/>
          </a:prstGeom>
          <a:solidFill>
            <a:srgbClr val="F4D4D6"/>
          </a:solidFill>
          <a:ln/>
        </p:spPr>
      </p:sp>
      <p:sp>
        <p:nvSpPr>
          <p:cNvPr id="22" name="Shape 20"/>
          <p:cNvSpPr/>
          <p:nvPr/>
        </p:nvSpPr>
        <p:spPr>
          <a:xfrm>
            <a:off x="8101584" y="2606040"/>
            <a:ext cx="3703320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23" name="Text 21"/>
          <p:cNvSpPr/>
          <p:nvPr/>
        </p:nvSpPr>
        <p:spPr>
          <a:xfrm>
            <a:off x="8101584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(Luxury)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75904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L1: 3.09² = 9.55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L2: 3.09² = 9.55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75904" y="4937760"/>
            <a:ext cx="3154680" cy="0"/>
          </a:xfrm>
          <a:prstGeom prst="line">
            <a:avLst/>
          </a:prstGeom>
          <a:noFill/>
          <a:ln w="19050">
            <a:solidFill>
              <a:srgbClr val="9D02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01584" y="5029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02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19.10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WCSS = 35.31 + 43.07 + 19.10 = 97.48    |    (Used in the Elbow Method to select optimal k)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Summary — 7 Cars in Two Iterations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(initial centroids)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0" cy="3657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212080"/>
            <a:ext cx="4754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50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0792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9288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150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7784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07561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03058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198555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30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48384" y="4462272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1264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84986" y="4453912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67866" y="4426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94790" y="4561550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7670" y="453411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31059" y="3767328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3939" y="3739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M1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16352" y="3526971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49953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M2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98694" y="1906132"/>
            <a:ext cx="182880" cy="182880"/>
          </a:xfrm>
          <a:prstGeom prst="ellipse">
            <a:avLst/>
          </a:prstGeom>
          <a:solidFill>
            <a:srgbClr val="9D0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1574" y="1878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0208"/>
                </a:solidFill>
              </a:rPr>
              <a:t>L1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08499" y="1750423"/>
            <a:ext cx="182880" cy="182880"/>
          </a:xfrm>
          <a:prstGeom prst="ellipse">
            <a:avLst/>
          </a:prstGeom>
          <a:solidFill>
            <a:srgbClr val="9D0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1379" y="172299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0208"/>
                </a:solidFill>
              </a:rPr>
              <a:t>L2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75232" y="435254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965"/>
                </a:solidFill>
              </a:rPr>
              <a:t>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457907" y="36576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5542" y="179640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0208"/>
                </a:solidFill>
              </a:rPr>
              <a:t>★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217920" y="10972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(after convergence)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66560" y="1554480"/>
            <a:ext cx="0" cy="36576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5212080"/>
            <a:ext cx="4754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55680" y="5257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50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6864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75360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150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52303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09360" y="5120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407561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09360" y="303058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09360" y="198555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30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09104" y="4462272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1984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45706" y="4453912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8586" y="4426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55510" y="4561550"/>
            <a:ext cx="182880" cy="18288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38390" y="453411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965"/>
                </a:solidFill>
              </a:rPr>
              <a:t>E3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291779" y="3767328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74659" y="3739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M1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577072" y="3526971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59952" y="349953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M2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859414" y="1906132"/>
            <a:ext cx="182880" cy="182880"/>
          </a:xfrm>
          <a:prstGeom prst="ellipse">
            <a:avLst/>
          </a:prstGeom>
          <a:solidFill>
            <a:srgbClr val="9D0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042294" y="1878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0208"/>
                </a:solidFill>
              </a:rPr>
              <a:t>L1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669219" y="1750423"/>
            <a:ext cx="182880" cy="182880"/>
          </a:xfrm>
          <a:prstGeom prst="ellipse">
            <a:avLst/>
          </a:prstGeom>
          <a:solidFill>
            <a:srgbClr val="9D02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852099" y="172299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0208"/>
                </a:solidFill>
              </a:rPr>
              <a:t>L2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130394" y="438285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965"/>
                </a:solidFill>
              </a:rPr>
              <a:t>★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8361274" y="3537422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★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10691165" y="1718027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0208"/>
                </a:solidFill>
              </a:rPr>
              <a:t>★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58064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965"/>
                </a:solidFill>
              </a:rPr>
              <a:t>●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188720" y="5806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474720" y="58064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●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3749040" y="5806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035040" y="58064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0208"/>
                </a:solidFill>
              </a:rPr>
              <a:t>●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309360" y="5806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595360" y="58064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</a:rPr>
              <a:t>★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8869680" y="5806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Both Algorithms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our Automobile Dataset (7 cars)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66360" cy="4572000"/>
          </a:xfrm>
          <a:prstGeom prst="rect">
            <a:avLst/>
          </a:prstGeom>
          <a:solidFill>
            <a:srgbClr val="1A2F47"/>
          </a:solidFill>
          <a:ln w="19050">
            <a:solidFill>
              <a:srgbClr val="1B49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166360" cy="5943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 = 3)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New car: HP = 100, Price = 13.5K$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Nearest neighbours: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M1 (1.14), M2 (10.15), E1 (30.85)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Votes: Mid-range = 2,  Economy = 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Probability:  Mid = 66.7%,  Eco = 33.3%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Prediction:  MID-RANGE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66360" cy="4572000"/>
          </a:xfrm>
          <a:prstGeom prst="rect">
            <a:avLst/>
          </a:prstGeom>
          <a:solidFill>
            <a:srgbClr val="1A2F47"/>
          </a:solidFill>
          <a:ln w="19050">
            <a:solidFill>
              <a:srgbClr val="9D02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54480"/>
            <a:ext cx="5166360" cy="594360"/>
          </a:xfrm>
          <a:prstGeom prst="rect">
            <a:avLst/>
          </a:prstGeom>
          <a:solidFill>
            <a:srgbClr val="9D020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54480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3)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Converged in 2 iterations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C1 (Economy):     (66.67, 6.01)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C2 (Mid-range):   (105.50, 14.10)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C3 (Luxury):      (179.00, 31.51)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WCSS = 97.48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Clusters match true segments exactly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1A2F4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— classifies labelled data    |    </a:t>
            </a:r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discovers natural groupings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 K-NN &amp; K-Means — Step-by-Step</dc:title>
  <dc:subject>PptxGenJS Presentation</dc:subject>
  <dc:creator>Group 14</dc:creator>
  <cp:lastModifiedBy>Group 14</cp:lastModifiedBy>
  <cp:revision>1</cp:revision>
  <dcterms:created xsi:type="dcterms:W3CDTF">2026-04-26T06:58:35Z</dcterms:created>
  <dcterms:modified xsi:type="dcterms:W3CDTF">2026-04-26T06:58:35Z</dcterms:modified>
</cp:coreProperties>
</file>