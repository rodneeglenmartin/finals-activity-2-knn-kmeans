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4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212080"/>
            <a:ext cx="320040" cy="3200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10789920" y="5212080"/>
            <a:ext cx="320040" cy="32004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10241280" y="5760720"/>
            <a:ext cx="320040" cy="32004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10789920" y="5760720"/>
            <a:ext cx="320040" cy="320040"/>
          </a:xfrm>
          <a:prstGeom prst="ellipse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&amp; K-Means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CLUSTERING ON REAL AUTO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365760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14 PRESENTATION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 Lenser B. Bolansoy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Renier P. Apal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Rodnee Glen A. Martin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Automobile (193 cars · 3 features · price-tier classes)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pic>
        <p:nvPicPr>
          <p:cNvPr id="4" name="Image 0" descr="/home/claude/autos_project/visuals/dataset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694944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280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3"/>
          <p:cNvSpPr/>
          <p:nvPr/>
        </p:nvSpPr>
        <p:spPr>
          <a:xfrm>
            <a:off x="7772400" y="1280160"/>
            <a:ext cx="73152" cy="137160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7936992" y="1417320"/>
            <a:ext cx="3703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936992" y="2103120"/>
            <a:ext cx="3703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in dataset (full file)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27889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Shape 7"/>
          <p:cNvSpPr/>
          <p:nvPr/>
        </p:nvSpPr>
        <p:spPr>
          <a:xfrm>
            <a:off x="7772400" y="2788920"/>
            <a:ext cx="73152" cy="13716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7936992" y="2926080"/>
            <a:ext cx="3703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936992" y="3611880"/>
            <a:ext cx="3703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HP · MPG · Price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42976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7772400" y="4297680"/>
            <a:ext cx="73152" cy="137160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7936992" y="4434840"/>
            <a:ext cx="3703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7936992" y="5120640"/>
            <a:ext cx="3703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Economy · Mid · Luxury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 → values span widely (Price 5K–45K, HP 48–262), so we apply min-max scaling before computing distances.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5270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Euclidean distance from the new car to every training car.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Distance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441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all training cars by how close they are (ascending order).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063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k Neighbours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3558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k closest cars. We use k = 5 in this project.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977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70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class labels among the k neighbours. Most frequent label wins.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892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Class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51846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winning class (Economy / Mid-range / Luxury) to the new car.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12344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7680960" y="1234440"/>
            <a:ext cx="73152" cy="169164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781812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18120" y="16916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d(p, q) = √ Σᵢ (pᵢ − qᵢ)²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here over 3 features: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horsepower, highway_mpg, price (all min-max scaled to [0, 1])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680960" y="3108960"/>
            <a:ext cx="4023360" cy="3200400"/>
          </a:xfrm>
          <a:prstGeom prst="rect">
            <a:avLst/>
          </a:prstGeom>
          <a:solidFill>
            <a:srgbClr val="FFF8E7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7818120" y="3200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Properties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361188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Supervised — needs labelled training data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Non-parametric — no model is trained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Lazy learner — computes at prediction time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Sensitive to feature scale — we min-max normalised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Odd k avoids ties when classes split evenly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— CODE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577840" cy="521208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Euclidean distance (n-dim)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euclidean(a, b):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math.sqrt(sum(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(ai-bi)**2 for ai,bi in zip(a,b)))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Predict a single car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knn_predict(train_X, train_y,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test_pt, k=5):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(euclidean(test_pt, tx), ty)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tx, ty in zip(train_X, train_y)]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distances.sort(key=lambda x: x[0])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k_nearest = distances[:k]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votes = {}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_, label in k_nearest: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votes[label] = votes.get(label,0)+1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max(votes, key=votes.get)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0" y="1188720"/>
            <a:ext cx="5577840" cy="521208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Min-max scale (price ≫ mpg!)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min_max_scale(X):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mins = [min(r[j] for r in 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range(len(X[0]))]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maxs = [max(r[j] for r in 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j in range(len(X[0]))]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[[(r[j]-mins[j])/(maxs[j]-mins[j])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j in range(len(r))] for r in X]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Evaluate on test 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knn_evaluate(tr_X, tr_y,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te_X, te_y, k=5):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preds = [knn_predict(tr_X, tr_y, tp, 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for tp in te_X]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correct = sum(p==t for p,t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 zip(preds, te_y))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preds, correct/len(te_y)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RESULTS (k = 5)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1792" y="201168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test 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73152" cy="137160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3410712" y="132588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10712" y="201168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samples (75%)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73152" cy="13716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6199632" y="132588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99632" y="201168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(25%)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8823960" y="1188720"/>
            <a:ext cx="73152" cy="137160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8988552" y="1325880"/>
            <a:ext cx="2468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988552" y="2011680"/>
            <a:ext cx="2468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(neighbours)</a:t>
            </a:r>
            <a:endParaRPr lang="en-US" sz="1100" dirty="0"/>
          </a:p>
        </p:txBody>
      </p:sp>
      <p:pic>
        <p:nvPicPr>
          <p:cNvPr id="20" name="Image 0" descr="/home/claude/autos_project/visuals/knn_resul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743200"/>
            <a:ext cx="6400800" cy="3749040"/>
          </a:xfrm>
          <a:prstGeom prst="rect">
            <a:avLst/>
          </a:prstGeom>
        </p:spPr>
      </p:pic>
      <p:pic>
        <p:nvPicPr>
          <p:cNvPr id="21" name="Image 1" descr="/home/claude/autos_project/visuals/knn_confus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40880" y="2743200"/>
            <a:ext cx="47548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234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5270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number of clusters k. We use k = 3.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1488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Centroids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4414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pick k cars as initial centroids.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063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Points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3558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car to the nearest centroid (Euclidean distance).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977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Centroids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2702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each centroid as the mean of its assigned cars.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892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Stable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518464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steps ③–④ until no car changes cluster.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12344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Shape 23"/>
          <p:cNvSpPr/>
          <p:nvPr/>
        </p:nvSpPr>
        <p:spPr>
          <a:xfrm>
            <a:off x="7680960" y="1234440"/>
            <a:ext cx="73152" cy="192024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781812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Objective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18120" y="1691640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Σᵢ Σₖ wᵢₖ ‖xᵢ − cₖ‖²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Within-Cluster Sum of Squares.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WCSS = tighter, better clusters.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680960" y="3337560"/>
            <a:ext cx="4023360" cy="2971800"/>
          </a:xfrm>
          <a:prstGeom prst="rect">
            <a:avLst/>
          </a:prstGeom>
          <a:solidFill>
            <a:srgbClr val="FFF8E7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781812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Properties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38404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Unsupervised — no labelled data needed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Centroid-based clustering approach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Pre-specify k (use Elbow Method to choose)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Results may vary with random initialisation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— CODE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577840" cy="521208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kmeans(X, k=3, max_iter=100):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Random initialisation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centroids = [list(X[i]) for i 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random.sample(range(len(X)), k)]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history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iteration in range(max_iter):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② Assign each car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assignments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min(range(k),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key=lambda c: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euclidean(x, centroids[c]))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x in X]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③ Recompute centroids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new_centroids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 in range(k):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members = [X[i] for 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in range(len(X))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assignments[i]==c]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26480" y="1188720"/>
            <a:ext cx="5577840" cy="5212080"/>
          </a:xfrm>
          <a:prstGeom prst="rect">
            <a:avLst/>
          </a:prstGeom>
          <a:solidFill>
            <a:srgbClr val="1E1E1E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members: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new_centroids.append([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sum(m[d] for m in members)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/ len(members)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for d in range(len(X[0]))])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new_centroids.append(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centroids[c])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history.append({'iteration':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iteration+1, 'centroids':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[list(c) for c in new_centroids]})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④ Check convergence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new_centroids == centroids: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centroids = new_centroids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centroids, assignments, history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RESULTS (k = 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28016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621792" y="1325880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21792" y="1956816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 Clustered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73152" cy="128016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3364992" y="1325880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364992" y="1956816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73152" cy="128016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6108192" y="1325880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08192" y="1956816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WCSS (scaled)</a:t>
            </a:r>
            <a:endParaRPr lang="en-US" sz="1100" dirty="0"/>
          </a:p>
        </p:txBody>
      </p:sp>
      <p:pic>
        <p:nvPicPr>
          <p:cNvPr id="16" name="Image 0" descr="/home/claude/autos_project/visuals/kmeans_clust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697480"/>
            <a:ext cx="6766560" cy="365760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743200"/>
          <a:ext cx="438912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49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(Economy)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(Mid-range)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$15,439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9D02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(Luxury)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$34,098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7406640" y="49377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clusters align almost perfectly with the price-tier classes — K-Means rediscovered the segments without using labels.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— CHOOSING OPTIMAL k</a:t>
            </a:r>
            <a:endParaRPr lang="en-US" sz="2200" dirty="0"/>
          </a:p>
        </p:txBody>
      </p:sp>
      <p:pic>
        <p:nvPicPr>
          <p:cNvPr id="4" name="Image 0" descr="/home/claude/autos_project/visuals/elbo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7315200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188720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Shape 3"/>
          <p:cNvSpPr/>
          <p:nvPr/>
        </p:nvSpPr>
        <p:spPr>
          <a:xfrm>
            <a:off x="7955280" y="1188720"/>
            <a:ext cx="73152" cy="169164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4"/>
          <p:cNvSpPr/>
          <p:nvPr/>
        </p:nvSpPr>
        <p:spPr>
          <a:xfrm>
            <a:off x="8092440" y="1298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WCSS?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92440" y="169164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Within-Cluster Sum of Squares measures total variance inside clusters. Lower = tighter clusters.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55280" y="2971800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7"/>
          <p:cNvSpPr/>
          <p:nvPr/>
        </p:nvSpPr>
        <p:spPr>
          <a:xfrm>
            <a:off x="7955280" y="2971800"/>
            <a:ext cx="73152" cy="169164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8092440" y="308152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0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 = 3?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92440" y="347472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drops sharply 19.96 → 8.77 → 5.20, then flattens. The bend at k=3 marks diminishing returns.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55280" y="4754880"/>
            <a:ext cx="3840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7955280" y="4754880"/>
            <a:ext cx="73152" cy="16916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8092440" y="48646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92440" y="5257800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K-Means for k = 1..N, plot WCSS, pick the elbow point. Aligns with our 3 price tiers.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486400" cy="54864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578608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822960" y="26151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615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training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182112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822960" y="32186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218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 for new cars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785616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822960" y="38221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3822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(default)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389120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822960" y="442569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44256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number of neighbours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4992624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95.9% on test set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" y="5596128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822960" y="5632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68880" y="5632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O(n·d) per prediction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" y="6199632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Shape 26"/>
          <p:cNvSpPr/>
          <p:nvPr/>
        </p:nvSpPr>
        <p:spPr>
          <a:xfrm>
            <a:off x="6217920" y="1234440"/>
            <a:ext cx="54864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6217920" y="1234440"/>
            <a:ext cx="5486400" cy="548640"/>
          </a:xfrm>
          <a:prstGeom prst="rect">
            <a:avLst/>
          </a:prstGeom>
          <a:solidFill>
            <a:srgbClr val="9D020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6217920" y="1234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583680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2578608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/>
          <p:nvPr/>
        </p:nvSpPr>
        <p:spPr>
          <a:xfrm>
            <a:off x="6583680" y="26151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2615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data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83680" y="3182112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/>
          <p:nvPr/>
        </p:nvSpPr>
        <p:spPr>
          <a:xfrm>
            <a:off x="6583680" y="32186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32186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assignments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0" y="3785616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/>
          <p:nvPr/>
        </p:nvSpPr>
        <p:spPr>
          <a:xfrm>
            <a:off x="6583680" y="382219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0" y="38221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to centroid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583680" y="4389120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Text 41"/>
          <p:cNvSpPr/>
          <p:nvPr/>
        </p:nvSpPr>
        <p:spPr>
          <a:xfrm>
            <a:off x="6583680" y="442569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0" y="44256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number of clusters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583680" y="4992624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6" name="Text 44"/>
          <p:cNvSpPr/>
          <p:nvPr/>
        </p:nvSpPr>
        <p:spPr>
          <a:xfrm>
            <a:off x="658368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0" y="5029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iterations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583680" y="5596128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9" name="Text 47"/>
          <p:cNvSpPr/>
          <p:nvPr/>
        </p:nvSpPr>
        <p:spPr>
          <a:xfrm>
            <a:off x="6583680" y="56327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Inertia: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29600" y="56327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5.20 WCSS (scaled)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0" y="6199632"/>
            <a:ext cx="475488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2B3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3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4"/>
          <p:cNvSpPr/>
          <p:nvPr/>
        </p:nvSpPr>
        <p:spPr>
          <a:xfrm>
            <a:off x="7772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5EE2C0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achieved 95.9% accuracy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6184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auto data has overlap between Economy and Mid-range — most errors happen at this boundary.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377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converged in 12 iterations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7614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clusters found centroids near $8K, $15K, $34K — matching the natural price tiers.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8FCD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C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was essential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9044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scaling, price (in thousands) would have dominated distance over HP and MPG.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FF7A87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663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at k=3 confirmed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504748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dropped from 19.96 to 5.20 (k=1→3) then flattened, validating our 3-segment model.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matplotlib  ·  Dataset: autos-k-means.csv (193 cars)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1416</Words>
  <Application>Microsoft Office PowerPoint</Application>
  <PresentationFormat>Widescreen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 K-NN &amp; K-Means</dc:title>
  <dc:subject>PptxGenJS Presentation</dc:subject>
  <dc:creator>Group 14</dc:creator>
  <cp:lastModifiedBy>Rodnee</cp:lastModifiedBy>
  <cp:revision>2</cp:revision>
  <dcterms:created xsi:type="dcterms:W3CDTF">2026-04-26T06:53:50Z</dcterms:created>
  <dcterms:modified xsi:type="dcterms:W3CDTF">2026-04-26T07:07:48Z</dcterms:modified>
</cp:coreProperties>
</file>