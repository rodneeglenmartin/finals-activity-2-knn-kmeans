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4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8686800" y="4114800"/>
            <a:ext cx="5943600" cy="5943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K-Means Clustering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48640" cy="4572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on a customer dataset — distances, neighbors, centroids, and clusters.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  ·   Apal   ·   Bolansoy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3949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&amp; the new entry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individually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distance (ascending)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— vote among neighbors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dataset with the new 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classification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949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Transform to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Initialize centroids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distances → assign cluster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Recompute centroids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2–4 until stable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clusters — K-Means in 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B1F3A">
              <a:alpha val="50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new customer by looking at the K most similar customers we already know.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STEP 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&amp; the new entry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dataset (24 rows shown abbreviated)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400800" cy="39502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691640"/>
            <a:ext cx="4206240" cy="4023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7498080" y="1691640"/>
            <a:ext cx="109728" cy="402336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/>
          <p:nvPr/>
        </p:nvSpPr>
        <p:spPr>
          <a:xfrm>
            <a:off x="77724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ENTRY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to classify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3063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$65k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7724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VISITS / MONTH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7724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4983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customer tier using the K nearest neighbors.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the distance individually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6928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91440" cy="1554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√( (X₂ − X₁)² + (Y₂ − Y₁)² 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Annual Income (k)   ·   Y = Store Visits /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39496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vs Customer #10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d₁₀ = √( (65 − 65)² + (5 − 6)² ) = √(0 + 1) = 1.00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 (65, 5) is just 1 unit from customer #10.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each customer (sample)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47120" cy="248716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√((65−25)² + (5−2)²)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√((65−35)² + (5−4)²)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√((65−60)² + (5−5)²)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√((65−65)² + (5−6)²)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√((65−68)² + (5−5)²)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√((65−100)² + (5−12)²)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√((65−120)² + (5−15)²)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…repeat for all 24 customers in the dataset.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the dataset by distance (ascending)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distance = most similar customer. The top of the list is who we'll vote with.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783080"/>
          <a:ext cx="9601200" cy="35112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14 more rows below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280160" y="5760720"/>
            <a:ext cx="182880" cy="54864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1554480" y="5760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 = the 3 closest customers, candidates for our vote on the next slide.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K — vote among the nearest neighbors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0" cy="32918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 =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2377440" cy="24688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2377440" cy="7315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452628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49440" y="1554480"/>
            <a:ext cx="2377440" cy="24688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6949440" y="1554480"/>
            <a:ext cx="2377440" cy="7315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70866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16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8660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866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0" y="1554480"/>
            <a:ext cx="2377440" cy="24688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9509760" y="1554480"/>
            <a:ext cx="2377440" cy="73152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964692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15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4692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469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6469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4692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389120" y="4297680"/>
            <a:ext cx="749808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457200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TALLY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617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·   </a:t>
            </a: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 ·   </a:t>
            </a:r>
            <a:r>
              <a:rPr lang="en-US" sz="2200" b="1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Text 36"/>
          <p:cNvSpPr/>
          <p:nvPr/>
        </p:nvSpPr>
        <p:spPr>
          <a:xfrm>
            <a:off x="640080" y="5532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tier:  </a:t>
            </a: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r>
              <a:rPr lang="en-US" sz="2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majority among the 3 nearest neighbors.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Updated dataset — insert the new point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212080" cy="457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24 customers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4846320" cy="27980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64008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(showing rows 13–24)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3383280"/>
            <a:ext cx="640080" cy="548640"/>
          </a:xfrm>
          <a:prstGeom prst="rightArrow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57607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66560" y="1463040"/>
            <a:ext cx="4937760" cy="4572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0"/>
          <p:cNvSpPr/>
          <p:nvPr/>
        </p:nvSpPr>
        <p:spPr>
          <a:xfrm>
            <a:off x="694944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25 customers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011680"/>
          <a:ext cx="4572000" cy="29260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9494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#25 added with predicted tier Silver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grows. Next time we classify, this customer also gets a vote.</a:t>
            </a:r>
            <a:endParaRPr lang="en-US" sz="1300" dirty="0"/>
          </a:p>
        </p:txBody>
      </p:sp>
      <p:sp>
        <p:nvSpPr>
          <p:cNvPr id="14" name="Text 13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· VISUAL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 in action</a:t>
            </a:r>
            <a:endParaRPr lang="en-US" sz="3000" dirty="0"/>
          </a:p>
        </p:txBody>
      </p:sp>
      <p:pic>
        <p:nvPicPr>
          <p:cNvPr id="6" name="Image 0" descr="d:\Desktop\kn\knn_visual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7772400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371600"/>
            <a:ext cx="320040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5"/>
          <p:cNvSpPr/>
          <p:nvPr/>
        </p:nvSpPr>
        <p:spPr>
          <a:xfrm>
            <a:off x="8503920" y="1371600"/>
            <a:ext cx="73152" cy="150876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868680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nearest neighbors are Silver tier.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3017520"/>
            <a:ext cx="320040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8503920" y="3017520"/>
            <a:ext cx="73152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868680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circle bounds the 3 closest points.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920" y="4663440"/>
            <a:ext cx="3200400" cy="1508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5"/>
          <p:cNvSpPr/>
          <p:nvPr/>
        </p:nvSpPr>
        <p:spPr>
          <a:xfrm>
            <a:off x="8503920" y="4663440"/>
            <a:ext cx="73152" cy="150876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868680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0" y="5029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(65, 5)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686800" y="5577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★ — the customer to classify.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0B1F3A">
              <a:alpha val="50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into K segments by repeatedly assigning points to the nearest centroid and recomputing the centroid.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the dataset into a working table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customers, two features: Annual Income and Spending Score.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3657600" cy="3218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(Income)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(Spend)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783080"/>
          <a:ext cx="3657600" cy="3218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(Income)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(Spend)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783080"/>
          <a:ext cx="3657600" cy="3218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(Income)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(Spend)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Initialize K centroids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 K = 5 starting centers — randomly chosen from the dataset (seed = 42 for reproducibility).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0312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10312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1417320" y="21031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(Income)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(Spending)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210312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2971800" y="1828800"/>
            <a:ext cx="2103120" cy="9144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3749040" y="2103120"/>
            <a:ext cx="548640" cy="548640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8" name="Text 16"/>
          <p:cNvSpPr/>
          <p:nvPr/>
        </p:nvSpPr>
        <p:spPr>
          <a:xfrm>
            <a:off x="29718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10896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(Income)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0896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(Spending)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0" y="1828800"/>
            <a:ext cx="210312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5303520" y="1828800"/>
            <a:ext cx="2103120" cy="91440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6080760" y="2103120"/>
            <a:ext cx="548640" cy="548640"/>
          </a:xfrm>
          <a:prstGeom prst="ellips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26" name="Text 24"/>
          <p:cNvSpPr/>
          <p:nvPr/>
        </p:nvSpPr>
        <p:spPr>
          <a:xfrm>
            <a:off x="53035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4068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(Income)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(Spending)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35240" y="1828800"/>
            <a:ext cx="210312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7635240" y="1828800"/>
            <a:ext cx="21031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Shape 31"/>
          <p:cNvSpPr/>
          <p:nvPr/>
        </p:nvSpPr>
        <p:spPr>
          <a:xfrm>
            <a:off x="8412480" y="210312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34" name="Text 32"/>
          <p:cNvSpPr/>
          <p:nvPr/>
        </p:nvSpPr>
        <p:spPr>
          <a:xfrm>
            <a:off x="7635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7724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(Income)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(Spending)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66960" y="1828800"/>
            <a:ext cx="2103120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Shape 38"/>
          <p:cNvSpPr/>
          <p:nvPr/>
        </p:nvSpPr>
        <p:spPr>
          <a:xfrm>
            <a:off x="9966960" y="1828800"/>
            <a:ext cx="2103120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1" name="Shape 39"/>
          <p:cNvSpPr/>
          <p:nvPr/>
        </p:nvSpPr>
        <p:spPr>
          <a:xfrm>
            <a:off x="10744200" y="210312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42" name="Text 40"/>
          <p:cNvSpPr/>
          <p:nvPr/>
        </p:nvSpPr>
        <p:spPr>
          <a:xfrm>
            <a:off x="99669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1010412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(Income)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1041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0412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(Spending)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1041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8" name="Text 46"/>
          <p:cNvSpPr/>
          <p:nvPr/>
        </p:nvSpPr>
        <p:spPr>
          <a:xfrm>
            <a:off x="86868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FORMULA — same Euclidean distance we used for K-NN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47"/>
              <p:cNvSpPr/>
              <p:nvPr/>
            </p:nvSpPr>
            <p:spPr>
              <a:xfrm>
                <a:off x="868680" y="5440680"/>
                <a:ext cx="105156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𝒅</m:t>
                      </m:r>
                      <m:d>
                        <m:dPr>
                          <m:ctrlPr>
                            <a:rPr lang="en-US" sz="22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𝑷</m:t>
                          </m:r>
                          <m:r>
                            <a:rPr lang="en-US" sz="22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,</m:t>
                          </m:r>
                          <m:r>
                            <a:rPr lang="en-US" sz="22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  <m:t>𝑪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" pitchFamily="34" charset="-122"/>
                              <a:cs typeface="Cambria" pitchFamily="34" charset="-12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22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  <a:cs typeface="Cambria" pitchFamily="34" charset="-12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1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  <a:cs typeface="Cambria" pitchFamily="34" charset="-12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b="1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  <a:cs typeface="Cambria" pitchFamily="34" charset="-12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𝑷</m:t>
                                          </m:r>
                                        </m:sub>
                                      </m:sSub>
                                      <m:r>
                                        <a:rPr lang="en-US" sz="2200" b="1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  <a:cs typeface="Cambria" pitchFamily="34" charset="-12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𝑪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200" b="1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  <a:cs typeface="Cambria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1" i="1" dirty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  <a:cs typeface="Cambria" pitchFamily="34" charset="-12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b="1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  <a:cs typeface="Cambria" pitchFamily="34" charset="-12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b="1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  <a:cs typeface="Cambria" pitchFamily="34" charset="-12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𝑷</m:t>
                                          </m:r>
                                        </m:sub>
                                      </m:sSub>
                                      <m:r>
                                        <a:rPr lang="en-US" sz="2200" b="1" i="1" dirty="0" smtClean="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  <a:cs typeface="Cambria" pitchFamily="34" charset="-12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US" sz="2200" b="1" i="1" dirty="0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  <a:ea typeface="Cambria" pitchFamily="34" charset="-122"/>
                                              <a:cs typeface="Cambria" pitchFamily="34" charset="-120"/>
                                            </a:rPr>
                                            <m:t>𝑪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200" b="1" i="1" dirty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  <a:cs typeface="Cambria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9" name="Text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440680"/>
                <a:ext cx="10515600" cy="640080"/>
              </a:xfrm>
              <a:prstGeom prst="rect">
                <a:avLst/>
              </a:prstGeom>
              <a:blipFill>
                <a:blip r:embed="rId3"/>
                <a:stretch>
                  <a:fillRect b="-3810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48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the distance &amp; determine cluster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point, measure the distance to every centroid. The smallest distance wins — that point joins that cluster.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9966960" cy="381609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(70,10)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(16,77)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(15,39)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(78,85)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(19,3)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(15,39)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(15,81)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(16,6)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(16,77)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P11 (40,55)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P17 (60,45)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P21 (70,10)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P22 (72,90)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P24 (78,85)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P26 (85,95)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 grid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computed for all 30 points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cells = the smallest distance for that row → that point joins that cluster.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again — determine new centroids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centroid is the average (mean) X and Y of all points assigned to its cluster.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640080" y="1783080"/>
                <a:ext cx="1097280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= ( mean(X) of cluster points,   mean(Y) of cluster points )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83080"/>
                <a:ext cx="10972800" cy="731520"/>
              </a:xfrm>
              <a:prstGeom prst="rect">
                <a:avLst/>
              </a:prstGeom>
              <a:blipFill>
                <a:blip r:embed="rId3"/>
                <a:stretch>
                  <a:fillRect l="-778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1124712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(X, 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(X, 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(70.00, 10.00)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(78.83, 20.50)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right &amp;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(16.00, 77.00)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(17.00, 80.00)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nudge upward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(15.00, 39.00)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(36.71, 47.00)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toward middle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(78.00, 85.00)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(76.67, 73.22)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downward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(19.00,  3.00)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(17.67,  5.00)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Barely 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640080" y="5532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Loop:  </a:t>
            </a:r>
            <a:r>
              <a:rPr lang="en-US" sz="16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back to Step 2 with these new centroids and repeat. We stop when no point changes cluster.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ITERATION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Step 2 → Step 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0624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Centroids (updated)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08483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( 78.83,  20.50 )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935224"/>
            <a:ext cx="365760" cy="365760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1280160" y="27706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27706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( 17.00,  80.00 )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785616"/>
            <a:ext cx="365760" cy="365760"/>
          </a:xfrm>
          <a:prstGeom prst="ellips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1280160" y="362102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36210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( 36.71,  47.00 )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63600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1280160" y="447141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0" y="44714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( 76.67,  73.22 )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1280160" y="53218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( 17.67,  5.00 )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371600"/>
            <a:ext cx="676656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512064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Re-assign each point to its nearest new centroid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920240"/>
          <a:ext cx="6400800" cy="29626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d→C5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(15,39)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(15,81)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(16,6)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P11 (40,55)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P17 (60,45)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P21 (70,10)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P24 (78,85)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 grid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continues for all 30 points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120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points changed cluster — so we have to keep going.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ITERATION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again — determine new centroids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re-assigning all 30 points, average the X and Y again to get the next set of centroids.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Iter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Iter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(78.83, 20.50)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(82.50, 16.50)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Tightening on low-spend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(17.00, 80.00)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(17.00, 80.00)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(36.71, 47.00)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(47.25, 48.75)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toward middle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(76.67, 73.22)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(86.40, 88.20)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Settling on high-spend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(17.67,  5.00)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(17.67,  5.00)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6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53492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1" name="Text 8"/>
          <p:cNvSpPr/>
          <p:nvPr/>
        </p:nvSpPr>
        <p:spPr>
          <a:xfrm>
            <a:off x="54864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17320" y="5577840"/>
            <a:ext cx="14630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2926080" y="53492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14" name="Text 11"/>
          <p:cNvSpPr/>
          <p:nvPr/>
        </p:nvSpPr>
        <p:spPr>
          <a:xfrm>
            <a:off x="256032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5577840"/>
            <a:ext cx="14630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3"/>
          <p:cNvSpPr/>
          <p:nvPr/>
        </p:nvSpPr>
        <p:spPr>
          <a:xfrm>
            <a:off x="4937760" y="5349240"/>
            <a:ext cx="457200" cy="457200"/>
          </a:xfrm>
          <a:prstGeom prst="ellipse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7" name="Text 14"/>
          <p:cNvSpPr/>
          <p:nvPr/>
        </p:nvSpPr>
        <p:spPr>
          <a:xfrm>
            <a:off x="457200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40680" y="5577840"/>
            <a:ext cx="14630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19" name="Shape 16"/>
          <p:cNvSpPr/>
          <p:nvPr/>
        </p:nvSpPr>
        <p:spPr>
          <a:xfrm>
            <a:off x="6949440" y="5349240"/>
            <a:ext cx="457200" cy="457200"/>
          </a:xfrm>
          <a:prstGeom prst="ellipse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20" name="Text 17"/>
          <p:cNvSpPr/>
          <p:nvPr/>
        </p:nvSpPr>
        <p:spPr>
          <a:xfrm>
            <a:off x="658368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4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52360" y="5577840"/>
            <a:ext cx="1463040" cy="0"/>
          </a:xfrm>
          <a:prstGeom prst="line">
            <a:avLst/>
          </a:prstGeom>
          <a:noFill/>
          <a:ln w="25400">
            <a:solidFill>
              <a:srgbClr val="5A6B82"/>
            </a:solidFill>
            <a:prstDash val="dash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19"/>
          <p:cNvSpPr/>
          <p:nvPr/>
        </p:nvSpPr>
        <p:spPr>
          <a:xfrm>
            <a:off x="8961120" y="5349240"/>
            <a:ext cx="457200" cy="457200"/>
          </a:xfrm>
          <a:prstGeom prst="ellipse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23" name="Text 20"/>
          <p:cNvSpPr/>
          <p:nvPr/>
        </p:nvSpPr>
        <p:spPr>
          <a:xfrm>
            <a:off x="859536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ITERATION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— and watch the changes shrink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Centroids (after Iter 2 → used in Iter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08483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( 82.50,  16.50 )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935224"/>
            <a:ext cx="365760" cy="365760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1280160" y="27706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2770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( 17.00,  80.00 )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785616"/>
            <a:ext cx="365760" cy="365760"/>
          </a:xfrm>
          <a:prstGeom prst="ellips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1280160" y="362102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362102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( 47.25,  48.75 )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63600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1280160" y="447141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0" y="44714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( 86.40,  88.20 )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1280160" y="53218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( 17.67,  5.00 )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Re-assignment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stay in the same cluster as Iteration 2.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CHANGED CLUSTER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834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A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New centroids drift only slightly from Iteration 2 values.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937760"/>
            <a:ext cx="512064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583680" y="49377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more iteration and the centroids stop changing entirely. That's convergence.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ITERATION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again — and converge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Iteration 4 the cluster assignments are identical to Iteration 3 → K-Means has converged.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income · low spending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9A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income · high spending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income · middle spending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income · high spending (target)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income · low spending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777240" y="5440680"/>
            <a:ext cx="640080" cy="640080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/>
          <p:nvPr/>
        </p:nvSpPr>
        <p:spPr>
          <a:xfrm>
            <a:off x="777240" y="5440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64592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459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 switched clusters between iterations 3 and 4 — the algorithm stops.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FINAL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clusters — K-Means in action</a:t>
            </a:r>
            <a:endParaRPr lang="en-US" sz="3000" dirty="0"/>
          </a:p>
        </p:txBody>
      </p:sp>
      <p:pic>
        <p:nvPicPr>
          <p:cNvPr id="6" name="Image 0" descr="d:\Desktop\kn\kmeans_visual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777240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CUSTOMER SEGMENTS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03920" y="1691640"/>
            <a:ext cx="3200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6"/>
          <p:cNvSpPr/>
          <p:nvPr/>
        </p:nvSpPr>
        <p:spPr>
          <a:xfrm>
            <a:off x="8641080" y="19659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/>
          <p:nvPr/>
        </p:nvSpPr>
        <p:spPr>
          <a:xfrm>
            <a:off x="909828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09828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· low spending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03920" y="2697480"/>
            <a:ext cx="3200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8641080" y="2971800"/>
            <a:ext cx="365760" cy="365760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90982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982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· high spending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03920" y="3703320"/>
            <a:ext cx="3200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4"/>
          <p:cNvSpPr/>
          <p:nvPr/>
        </p:nvSpPr>
        <p:spPr>
          <a:xfrm>
            <a:off x="8641080" y="3977640"/>
            <a:ext cx="365760" cy="365760"/>
          </a:xfrm>
          <a:prstGeom prst="ellips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5"/>
          <p:cNvSpPr/>
          <p:nvPr/>
        </p:nvSpPr>
        <p:spPr>
          <a:xfrm>
            <a:off x="90982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982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income · middle spending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503920" y="4709160"/>
            <a:ext cx="3200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8"/>
          <p:cNvSpPr/>
          <p:nvPr/>
        </p:nvSpPr>
        <p:spPr>
          <a:xfrm>
            <a:off x="8641080" y="498348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19"/>
          <p:cNvSpPr/>
          <p:nvPr/>
        </p:nvSpPr>
        <p:spPr>
          <a:xfrm>
            <a:off x="909828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09828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income · high spending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503920" y="5715000"/>
            <a:ext cx="3200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2"/>
          <p:cNvSpPr/>
          <p:nvPr/>
        </p:nvSpPr>
        <p:spPr>
          <a:xfrm>
            <a:off x="8641080" y="598932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3"/>
          <p:cNvSpPr/>
          <p:nvPr/>
        </p:nvSpPr>
        <p:spPr>
          <a:xfrm>
            <a:off x="9098280" y="5806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098280" y="6126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· low spending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228600"/>
            <a:ext cx="164592" cy="164592"/>
          </a:xfrm>
          <a:prstGeom prst="ellipse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10698480" y="201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K-NN vs K-Means — at a glance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520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— labels exist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— no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the class of one new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all points into K 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'K'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neighbors that vote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clusters to find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just remembers the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Iterates until centroids stabilize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label for the new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Centroids + cluster assignments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(65k, 5 visits) → Silver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customers → 5 segments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Euclidean distance under the hood — but very different goals.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548640" cy="4572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 ·  K-NN &amp; K-Means walkthrough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34747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731520" y="4754880"/>
            <a:ext cx="91440" cy="137160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9601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— Member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4754880"/>
            <a:ext cx="34747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4434840" y="4754880"/>
            <a:ext cx="91440" cy="137160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466344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— 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754880"/>
            <a:ext cx="34747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8138160" y="4754880"/>
            <a:ext cx="91440" cy="137160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836676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Bolansoy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— Member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2185</Words>
  <Application>Microsoft Office PowerPoint</Application>
  <PresentationFormat>Widescreen</PresentationFormat>
  <Paragraphs>849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K-NN and K-Means</dc:title>
  <dc:subject>PptxGenJS Presentation</dc:subject>
  <dc:creator>Group 14 - Martin, Apal, Bolansoy</dc:creator>
  <cp:lastModifiedBy>Rodnee</cp:lastModifiedBy>
  <cp:revision>3</cp:revision>
  <dcterms:created xsi:type="dcterms:W3CDTF">2026-04-26T13:42:07Z</dcterms:created>
  <dcterms:modified xsi:type="dcterms:W3CDTF">2026-04-26T13:49:40Z</dcterms:modified>
</cp:coreProperties>
</file>